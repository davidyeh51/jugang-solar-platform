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｜ McKinsey &amp; Company</a:t>
            </a:r>
          </a:p>
          <a:p>
            <a:r>
              <a:t>① 本頁結論：① 主張：將窗口反饋之五大核心想法對映 MEDDIC 框架，全面收斂為直通董事長拍板的贏單對策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｜ McKinsey &amp; Company</a:t>
            </a:r>
          </a:p>
          <a:p>
            <a:r>
              <a:t>① 本頁結論：① 主張：D棟退縮2米兼顧外觀美感與合規免雜；C棟露台因170萬雜項執照費建議果斷剔除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本頁結論：① 主張：施作範圍鎖定 D 棟主屋頂與 C 棟兩處屋突，依防雨浪板需求形成 774.7kW 與 612.3kW 雙軌配置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｜ McKinsey &amp; Company</a:t>
            </a:r>
          </a:p>
          <a:p>
            <a:r>
              <a:t>① 本頁結論：① 主張：方案一享零出資穩健收租；方案二以 2,938 萬投資創造 4,550 萬至 8,904 萬淨現金流（IRR 最高達 20.48%）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｜ McKinsey &amp; Company</a:t>
            </a:r>
          </a:p>
          <a:p>
            <a:r>
              <a:t>① 本頁結論：① 主張：方案二現金流在第 7.2 年正式回本轉正，20 年累計淨現金流達 4,550 萬至 8,904 萬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｜ McKinsey &amp; Company</a:t>
            </a:r>
          </a:p>
          <a:p>
            <a:r>
              <a:t>① 本頁結論：① 主張：方案一具中途回購彈性，惟首年溢價高達 42% 且外併改內併程序繁瑣，自建仍具絕對財務優勢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｜ McKinsey &amp; Company</a:t>
            </a:r>
          </a:p>
          <a:p>
            <a:r>
              <a:t>① 本頁結論：① 主張：針對比較基準、日照數據與回購可行性三大質疑，我方已完成同口徑驗算與合約保障閉環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｜ McKinsey &amp; Company</a:t>
            </a:r>
          </a:p>
          <a:p>
            <a:r>
              <a:t>① 本頁結論：① 主張：D棟浪板以 29.03% 通道占比合規免雜照；54 根立柱承諾結構技師簽證與 10 年防水工程保固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｜ McKinsey &amp; Company</a:t>
            </a:r>
          </a:p>
          <a:p>
            <a:r>
              <a:t>① 本頁結論：① 主張：資本充裕或具減碳剛需首選方案二自建（IRR 20.48%）；資金留作本業則選方案一零出資收租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｜ McKinsey &amp; Company</a:t>
            </a:r>
          </a:p>
          <a:p>
            <a:r>
              <a:t>① 本頁結論：① 主張：確立空間用途、首選台製亞力逆變器強化資安，並將 48 小時到場 SLA 與防水責任明載入約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｜ McKinsey &amp; Company</a:t>
            </a:r>
          </a:p>
          <a:p>
            <a:r>
              <a:t>① 本頁結論：① 主張：國泰金控與進金生合資 37 億建坤能源，結合進能服 200MW 實績與雙認證團隊提供 20 年保障</a:t>
            </a:r>
          </a:p>
          <a:p>
            <a:r>
              <a:t>② 補充說明：</a:t>
            </a:r>
          </a:p>
          <a:p>
            <a:r>
              <a:t>③ 下一頁轉場：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ZERO-NOISE CONSULTING BRIEFING  |  MEDDIC Sales Strategy × Executive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台中西屯・鉅鋼機械新廠光電方案</a:t>
            </a:r>
            <a:br/>
            <a:r>
              <a:t>高階主管與董事長查核決策簡報（2026/10 最新版）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核心主張：依據董事長與高階主管視角完成全生命週期數據勾稽：自建（612.3kW）總支出 3,866 萬創造淨現金流 +4,550萬~8,904萬（IRR 11.85%~20.48%）；出租（774.7kW）0出資享 1,836 萬租金或 367 萬度綠電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呈閱：鉅鋼機械 董事長暨高階決策團隊 ｜ 規劃團隊：進金生能源服務 (6692) ｜ 顧問規範：森秀明 8 種無雜訊邏輯版型 × 麥肯錫/BCG/Accenture 視覺規範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1：客戶想法與 MEDDIC 策略 (1/2)  ｜  版型 5：麥肯錫論法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主張：將窗口反饋之五大核心想法對映 MEDDIC 框架，全面收斂為直通董事長拍板的贏單對策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針對直面高層對話、D棟退縮2米免欄杆、出租中途回購、C棟露台勸退及進能服實績建立完整商業邏輯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2026/09/30 業務回報與 20260930.pptx 更新 ｜ 第 5 點：進金生與建坤能源實績置於 Part 4 作為決策信任保障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高層對話(自建/出租)</a:t>
            </a:r>
          </a:p>
        </p:txBody>
      </p:sp>
      <p:sp>
        <p:nvSpPr>
          <p:cNvPr id="8" name="Chevron 7"/>
          <p:cNvSpPr/>
          <p:nvPr/>
        </p:nvSpPr>
        <p:spPr>
          <a:xfrm>
            <a:off x="5036743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D棟退縮2米浪板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方案一中途回購</a:t>
            </a:r>
          </a:p>
        </p:txBody>
      </p:sp>
      <p:sp>
        <p:nvSpPr>
          <p:cNvPr id="10" name="Chevron 9"/>
          <p:cNvSpPr/>
          <p:nvPr/>
        </p:nvSpPr>
        <p:spPr>
          <a:xfrm>
            <a:off x="9440951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C棟露台17kW勸退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1：</a:t>
            </a:r>
            <a:br/>
            <a:r>
              <a:t>【客戶關鍵想法】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窗口表示董事長自建與出租均在考慮，請進金生直接與高層決策者深度對話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6743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3903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設計規劃無外圍欄杆、邊緣自女兒牆退縮 2 米之 D 棟浪板方案，顧及立面美觀與防墜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客戶考量出租至一半若有綠電需求欲行回購，需明確之計價機制與時程規範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951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8111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 棟露台因合法容積限制僅能施作 17.6 kW，光雜照費即高達 170 萬，經濟效益不成立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要素 2：</a:t>
            </a:r>
            <a:br/>
            <a:r>
              <a:t>【MEDDIC 專業對策】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【E 經濟決策者】提供同基準 DCF 財務模型，並可搭配銀行 8 成綠能專案融資（自備僅約 588 萬）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6743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3903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【D 決策標準】退縮 2 米利用女兒牆防墜免加欄杆，通道占比 29.03% 完美符合免雜法規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6007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【D 決策標準】明訂首年 1.3 倍、逐年遞減 5% 回購公式，並揭露外併改內併工程要件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0951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111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【I 痛點立信】主動建議董事長剃除雞肋露台、現省 170 萬規費，樹立不灌水的專業顧問誠信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1：客戶想法與 MEDDIC 策略 (2/2)  ｜  版型 6：對立論法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主張：D棟退縮2米兼顧外觀美感與合規免雜；C棟露台因170萬雜項執照費建議果斷剔除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 D 棟「退縮 2 米免欄杆浪板」與 C 棟「露台 17.6 kW 雜照區」進行深度技術與財務對比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鉅鋼機械 20260930.pptx Slide 9, 17, 20 數據與進能服工程部法規試算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焦點 A：D 棟退縮 2 米浪板工藝（★推薦實施）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焦點 B：C 棟露台 17.6 kW 高棚架（★強烈建議不作）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工安防墜與建築外觀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自女兒牆向內退縮 2 米留設工安緩衝，直接利用女兒牆防墜，新廠立面完全不需外加鐵欄杆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露台為平台結構，需辦理建築雜項執照審查，若設高棚架對周邊採光與視覺壓迫顯著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法規依據與面積檢討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受限 30% 維護走道限制，實測通道占比 29.03%（600.3/2067.9m²），完全合規免雜照標準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經向台中建管處檢討，合法容積僅剩 32 坪，依法嚴格限縮最高僅能鋪設 17.6 kW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投資成本與經濟效益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自建單價 $42,000/kW＋浪板 $7,000/kW，雙層隔熱為廠房頂樓降溫 3~5°C，創造 4,550 萬淨利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雜照申請費高達 $1,700,000＋工程款 $1,330,000 = $303萬，20年總收益僅 367 萬，淨值嚴重負數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結構立柱與防水保障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★ 方案二加浪板需新增 54 根黑色立柱加強抗風，承諾由結構技師簽證並提供 10 年防水工程保固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面積狹小且施工動線受限，單位建置成本高達 $17.2萬/kW，屬於典型高成本低回報之負資產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2：技術規格與雙軌方案盤點 (1/4)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主張：施作範圍鎖定 D 棟主屋頂與 C 棟兩處屋突，依防雨浪板需求形成 774.7kW 與 612.3kW 雙軌配置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C 棟屋突兩處（151.745 kW）南向單斜矮棚架兩方案完全共用；D 棟則受浪板與 30% 法規影響容量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2, 3, 5, 6, 9, 12, 14 工程圖面與設備清冊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2：雙軌方案財務模型對決 (2/4)  ｜  版型 7：比較論法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主張：方案一享零出資穩健收租；方案二以 2,938 萬投資創造 4,550 萬至 8,904 萬淨現金流（IRR 最高達 20.48%）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經查核 20260930 Slide 10 精算模型，已扣除 20 年維運、保險、換機與回收費 928 萬，數據完全勾稽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4, 10 財務分析模型，折現率採用製造業標準 WACC = 5.0% 與內部 3.0% 對照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51C2C"/>
                </a:solidFill>
              </a:defRPr>
            </a:pPr>
            <a:r>
              <a:t>① 見解 A（④ 差異點）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D97706"/>
                </a:solidFill>
              </a:defRPr>
            </a:pPr>
            <a:r>
              <a:t>③ 交集：核心共通點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E3A8A"/>
                </a:solidFill>
              </a:defRPr>
            </a:pPr>
            <a:r>
              <a:t>① 見解 B（④ 差異點）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2：方案二自建 20 年逐年現金流與敏感度 (3/4)  ｜  版型 5：麥肯錫論法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主張：方案二現金流在第 7.2 年正式回本轉正，20 年累計淨現金流達 4,550 萬至 8,904 萬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完整揭露 Y0~Y20 逐年收益、維運保險、換機儲備與回收費，數據與 Slide 10 精算表 100% 吻合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10 Excel 精算表模型 (未稅)，每年發電衰減率以 0.8% 嚴格計算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建置期 (Y0)</a:t>
            </a:r>
          </a:p>
        </p:txBody>
      </p:sp>
      <p:sp>
        <p:nvSpPr>
          <p:cNvPr id="8" name="Chevron 7"/>
          <p:cNvSpPr/>
          <p:nvPr/>
        </p:nvSpPr>
        <p:spPr>
          <a:xfrm>
            <a:off x="5036743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保固期 (Y1~Y5)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回本轉正期 (Y6~Y10)</a:t>
            </a:r>
          </a:p>
        </p:txBody>
      </p:sp>
      <p:sp>
        <p:nvSpPr>
          <p:cNvPr id="10" name="Chevron 9"/>
          <p:cNvSpPr/>
          <p:nvPr/>
        </p:nvSpPr>
        <p:spPr>
          <a:xfrm>
            <a:off x="9440951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換機與成熟期 (Y11~Y20)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現金流動態</a:t>
            </a:r>
            <a:br/>
            <a:r>
              <a:t>【純節電 $5.8/度】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• Capex 支出：-$29,376,702</a:t>
            </a:r>
            <a:br/>
            <a:r>
              <a:t>• 台電規費與工程款一次付清</a:t>
            </a:r>
            <a:br/>
            <a:r>
              <a:t>• 累計淨額：-$29,376,702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6743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3903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• 年發電收益：約 +$440萬~$454萬</a:t>
            </a:r>
            <a:br/>
            <a:r>
              <a:t>• 保固期 O&amp;M：$0（免維運費）</a:t>
            </a:r>
            <a:br/>
            <a:r>
              <a:t>• 扣保險回收後累計：-$8,457,334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• Y6 起 O&amp;M：-$362,959/年</a:t>
            </a:r>
            <a:br/>
            <a:r>
              <a:t>• ★ Y7 底累計只剩 -$75.7萬</a:t>
            </a:r>
            <a:br/>
            <a:r>
              <a:t>• ★ Y8 正式轉正：+$3,054,479（7.2年回本）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951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8111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• Y11 提列逆變器換機：-$918,480</a:t>
            </a:r>
            <a:br/>
            <a:r>
              <a:t>• Y11~Y20 持續淨流入 +$350萬/年</a:t>
            </a:r>
            <a:br/>
            <a:r>
              <a:t>• ★ 20年累計淨現金流：+$45,504,512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電價敏感度分析</a:t>
            </a:r>
            <a:br/>
            <a:r>
              <a:t>【IRR 與回收期】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【極端保守：日間電價 $5.22 (-10%)】</a:t>
            </a:r>
            <a:br/>
            <a:r>
              <a:t>• 靜態回收期：7.9 年</a:t>
            </a:r>
            <a:br/>
            <a:r>
              <a:t>• 專案 IRR：9.82%</a:t>
            </a:r>
            <a:br/>
            <a:r>
              <a:t>• 20年淨現金流：+$3,708 萬元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6743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3903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【基準情境：目前電價 $5.80】</a:t>
            </a:r>
            <a:br/>
            <a:r>
              <a:t>• 靜態回收期：7.2 年</a:t>
            </a:r>
            <a:br/>
            <a:r>
              <a:t>• 專案 IRR：11.85%</a:t>
            </a:r>
            <a:br/>
            <a:r>
              <a:t>• 20年淨現金流：+$4,550 萬元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6007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【電價上漲情境：電價 $6.38 (+10%)】</a:t>
            </a:r>
            <a:br/>
            <a:r>
              <a:t>• 靜態回收期：6.5 年</a:t>
            </a:r>
            <a:br/>
            <a:r>
              <a:t>• 專案 IRR：13.88%</a:t>
            </a:r>
            <a:br/>
            <a:r>
              <a:t>• 20年淨現金流：+$5,392 萬元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0951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111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【滿血情境：節電＋綠憑 $8.80】</a:t>
            </a:r>
            <a:br/>
            <a:r>
              <a:t>• ★ 靜態回收期：4.53 年</a:t>
            </a:r>
            <a:br/>
            <a:r>
              <a:t>• ★ 專案 IRR：20.48%</a:t>
            </a:r>
            <a:br/>
            <a:r>
              <a:t>• ★ 20年累計淨現金流：+$8,904 萬元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2：方案一出租中途回購評估 (4/4)  ｜  版型 4：連鎖論法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主張：方案一具中途回購彈性，惟首年溢價高達 42% 且外併改內併程序繁瑣，自建仍具絕對財務優勢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依國泰建坤「首年工程價金 1.3 倍、逐年遞減 5%」公式，剖析各年回購門檻與隱形成本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8 回購試算表與進能服高壓併聯工程規範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② 時間的經過、事物的因果順序、端到端工作流程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Chevron 10"/>
          <p:cNvSpPr/>
          <p:nvPr/>
        </p:nvSpPr>
        <p:spPr>
          <a:xfrm>
            <a:off x="3470833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713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Chevron 13"/>
          <p:cNvSpPr/>
          <p:nvPr/>
        </p:nvSpPr>
        <p:spPr>
          <a:xfrm>
            <a:off x="6210147" y="2468880"/>
            <a:ext cx="2510713" cy="7772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7" name="Chevron 16"/>
          <p:cNvSpPr/>
          <p:nvPr/>
        </p:nvSpPr>
        <p:spPr>
          <a:xfrm>
            <a:off x="8949461" y="2468880"/>
            <a:ext cx="2510713" cy="77724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順序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9461" y="3383280"/>
            <a:ext cx="2510713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2341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3：資深光伏顧問 5 大疑問深度答辯 (1/2)  ｜  版型 8：BCG 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主張：針對比較基準、日照數據與回購可行性三大質疑，我方已完成同口徑驗算與合約保障閉環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針對顧問提出的 Q1 (比較基準不一致)、Q2 (發電量偏樂觀) 與 Q3 (回購可行性) 逐項專業對應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資深光伏顧問審查意見 × 進能服工程部與財務部聯合答辯報告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質疑 1：方案比較基準不一致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質疑 2：發電量 3.5 小時無佐證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質疑 3：回購機制不利且難度高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3：資深光伏顧問 5 大疑問深度答辯 (2/2)  ｜  版型 5：麥肯錫論法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主張：D棟浪板以 29.03% 通道占比合規免雜照；54 根立柱承諾結構技師簽證與 10 年防水工程保固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針對顧問提出的 Q4 (D棟容量差異與立柱防水) 與 Q5 (租金分潤與棚架空間權益) 提出具體履約方案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6, 9, 17 結構檢討與進能服工務合約範本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Q4-1: 30%維護走道法規</a:t>
            </a:r>
          </a:p>
        </p:txBody>
      </p:sp>
      <p:sp>
        <p:nvSpPr>
          <p:cNvPr id="8" name="Chevron 7"/>
          <p:cNvSpPr/>
          <p:nvPr/>
        </p:nvSpPr>
        <p:spPr>
          <a:xfrm>
            <a:off x="5036743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Q4-2: 54根立柱與防水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Q5-1: 租金基準與保底</a:t>
            </a:r>
          </a:p>
        </p:txBody>
      </p:sp>
      <p:sp>
        <p:nvSpPr>
          <p:cNvPr id="10" name="Chevron 9"/>
          <p:cNvSpPr/>
          <p:nvPr/>
        </p:nvSpPr>
        <p:spPr>
          <a:xfrm>
            <a:off x="9440951" y="1828800"/>
            <a:ext cx="2019223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Q5-2: 棚架空間使用權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顧問嚴格質疑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方案二加浪板是否符合免雜照？兩案 162kW 差額依據為何？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6743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3903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方案二新增 54 根黑色立柱植筋，屋頂打孔漏水責任歸誰？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6007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20% 售電收入以每度 5 元估算，若台電收購價波動是否有保底？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951" y="2606040"/>
            <a:ext cx="2019223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8111" y="274320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Slide 6 載明「棚架用途歸資方所有」，限制業主自有屋頂使用權！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③ 我方權威答辯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★ 經精算浪板面積 2,668m²，走道占 29.03% &lt;= 30%，完全符合免雜執照標準！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6743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3903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★ 方案二 54 根立柱由結構技師簽證，並由進能服提供 10 年防水工程保固與責任險！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6007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★ 方案一提供「保底年發電時數 1,050 小時」或「固定租金底線」，由建坤能源全額履約。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0951" y="4480560"/>
            <a:ext cx="2019223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8111" y="4617720"/>
            <a:ext cx="1744903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★ 簡報保留原文字，業務口頭向董事長承諾：可協議讓渡部分倉儲空間，資方僅保留檢修權！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3：高階主管與董事長 5 大決策指南 (1/2)  ｜  版型 7：比較論法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主張：資本充裕或具減碳剛需首選方案二自建（IRR 20.48%）；資金留作本業則選方案一零出資收租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針對董事長決策 D1 (出租 vs 自建資本配置) 與 D2 (綠電自用 vs 賣電收租) 提供量化決策矩陣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MEDDIC 經濟決策者 (EB) 財務決策模型 × 台灣碳費與綠電交易市場動態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51C2C"/>
                </a:solidFill>
              </a:defRPr>
            </a:pPr>
            <a:r>
              <a:t>① 見解 A（④ 差異點）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D97706"/>
                </a:solidFill>
              </a:defRPr>
            </a:pPr>
            <a:r>
              <a:t>③ 交集：核心共通點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E3A8A"/>
                </a:solidFill>
              </a:defRPr>
            </a:pPr>
            <a:r>
              <a:t>① 見解 B（④ 差異點）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3：高階主管與董事長 5 大決策指南 (2/2)  ｜  版型 2：並列論法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主張：確立空間用途、首選台製亞力逆變器強化資安，並將 48 小時到場 SLA 與防水責任明載入約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針對決策 D3 (棚架空間與防水)、D4 (設備規格與資安) 與 D5 (合約退出與維運SLA) 建立高層防護網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14, 28, 29 設備規格書與維運合約標準條款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PART 4：投資方背景與進能服工程實績  ｜  版型 3：結合論法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主張：國泰金控與進金生合資 37 億建坤能源，結合進能服 200MW 實績與雙認證團隊提供 20 年保障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滿足 MEDDIC「競爭優勢」與「強大履約能力」，確保光電案場 20 年如期如質營運不中斷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20260930.pptx Slide 22~29 進能服企業簡介與建坤能源公司登記資料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138160" cy="73152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核心優勢：百億金融資本後盾（建坤）＋ 上櫃工程實力與 AAA 級維運（進能服），同業唯一雙保險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投資方：建坤能源 (國泰金控 95% + 進金生 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雄厚資本：實收資本額 37 億元，全台投資超過 300MW，絕非空頭紙上專案公司。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850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9944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信譽保障：國泰金控跨國金融風控標準，履約 20 年不倒閉、不停運、不中途棄管。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48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692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費用全包：出租方案由建坤全額負擔工程、台電審查、線補、綠憑評鑑與水電網路費。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93792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EPC 與維運：進金生能源服務 (股票代號 6692)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建置實績：累積工程建置逾 200MW，包含南科 24MW 指標科技大廠及芳生螺絲 3.66MW。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0624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2063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國際認證：德國萊因 TÜV Rheinland 最高「AAA 等級維運認證」，具備嚴謹階段工程管理。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7608" y="3840480"/>
            <a:ext cx="1639824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904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③ SLA 承諾：全台綿密工務據點，承諾 2 工作天內現場查檢、5 工作天內修復完成。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